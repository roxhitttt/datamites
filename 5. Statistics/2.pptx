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Correcting Distortion in a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Data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324612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73152" cy="18288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6479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69AA"/>
                </a:solidFill>
              </a:defRPr>
            </a:pPr>
            <a:r>
              <a:t>What is Transformation?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28346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Transformation means applying a mathematical function to the data values to change their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24612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73152" cy="182880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6479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B7D23"/>
                </a:solidFill>
              </a:defRPr>
            </a:pPr>
            <a:r>
              <a:t>Why Transform?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40280"/>
            <a:ext cx="28346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To reduce skewness, compress extreme values, and sometimes make data closer to a normal shape.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24612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73152" cy="182880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76479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875A"/>
                </a:solidFill>
              </a:defRPr>
            </a:pPr>
            <a:r>
              <a:t>Main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40280"/>
            <a:ext cx="28346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Log • Square Root • Reciprocal • Box-Cox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160520"/>
            <a:ext cx="8503920" cy="82296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42336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Skewed Data  →  Transformation  →  Reduced Skewness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Distribution &amp; 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Why Do We Transform Data?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Reduce skewness in a distribution.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Reduce the influence of very large or very small values.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Make the distribution more symmetric or normal-like.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Make patterns and relationships easier to understand.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In some cases, help statistical or machine-learning models work better.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074920"/>
            <a:ext cx="6675120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5148072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Goal: Make the data more suitable for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Distribution &amp;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1. Log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Main idea: compress large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1417320"/>
            <a:ext cx="4846320" cy="68580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1490472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x′ = log(x)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5166360" cy="242316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73152" cy="242316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69AA"/>
                </a:solidFill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47548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Original: 1, 10, 100, 1000</a:t>
            </a:r>
            <a:br/>
            <a:br/>
            <a:r>
              <a:t>Log values (approx.): 0, 2.30, 4.61, 6.91</a:t>
            </a:r>
            <a:br/>
            <a:br/>
            <a:r>
              <a:t>Large values become much closer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31720"/>
            <a:ext cx="5166360" cy="242316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331720"/>
            <a:ext cx="73152" cy="242316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963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B7D23"/>
                </a:solidFill>
              </a:defRPr>
            </a:pPr>
            <a:r>
              <a:t>When Useful?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71800"/>
            <a:ext cx="47548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Especially useful for strongly right-skewed data such as:</a:t>
            </a:r>
            <a:br/>
            <a:r>
              <a:t>• Income</a:t>
            </a:r>
            <a:br/>
            <a:r>
              <a:t>• House prices</a:t>
            </a:r>
            <a:br/>
            <a:r>
              <a:t>• Sales</a:t>
            </a:r>
            <a:br/>
            <a:r>
              <a:t>• Population</a:t>
            </a:r>
            <a:br/>
            <a:r>
              <a:t>• Financial amounts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5166360"/>
            <a:ext cx="8138160" cy="73152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5239512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Python: np.log1p(x)  →  useful when x can contain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Distribution &amp; Transformation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2. Square-Root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1417320"/>
            <a:ext cx="4846320" cy="68580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0" y="1490472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x′ = √x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5166360" cy="242316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73152" cy="242316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875A"/>
                </a:solidFill>
              </a:defRPr>
            </a:pPr>
            <a: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7548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Original: 1, 4, 9, 100, 400</a:t>
            </a:r>
            <a:br/>
            <a:br/>
            <a:r>
              <a:t>Square roots: 1, 2, 3, 10, 20</a:t>
            </a:r>
            <a:br/>
            <a:br/>
            <a:r>
              <a:t>The transformation compresses larger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331720"/>
            <a:ext cx="5166360" cy="242316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331720"/>
            <a:ext cx="73152" cy="2423160"/>
          </a:xfrm>
          <a:prstGeom prst="rect">
            <a:avLst/>
          </a:prstGeom>
          <a:solidFill>
            <a:srgbClr val="69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963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9509B"/>
                </a:solidFill>
              </a:defRPr>
            </a:pPr>
            <a:r>
              <a:t>When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71800"/>
            <a:ext cx="47548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Often useful for moderately right-skewed data and count data.</a:t>
            </a:r>
            <a:br/>
            <a:br/>
            <a:r>
              <a:t>Python:</a:t>
            </a:r>
            <a:br/>
            <a:r>
              <a:t>np.sqrt(x)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5166360"/>
            <a:ext cx="6675120" cy="73152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5239512"/>
            <a:ext cx="6400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Usually milder than a log transformation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Distribution &amp;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3. Reciprocal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1417320"/>
            <a:ext cx="4846320" cy="68580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0" y="1490472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x′ = 1 /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5166360" cy="242316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73152" cy="242316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E4646"/>
                </a:solidFill>
              </a:defRPr>
            </a:pPr>
            <a: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7548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x: 1, 2, 5, 10, 100</a:t>
            </a:r>
            <a:br/>
            <a:br/>
            <a:r>
              <a:t>1/x: 1, 0.5, 0.2, 0.1, 0.01</a:t>
            </a:r>
            <a:br/>
            <a:br/>
            <a:r>
              <a:t>This can strongly change the shape and direction of a distribution.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331720"/>
            <a:ext cx="5166360" cy="242316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331720"/>
            <a:ext cx="73152" cy="242316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963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B7D23"/>
                </a:solidFill>
              </a:defRPr>
            </a:pPr>
            <a:r>
              <a:t>Important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71800"/>
            <a:ext cx="47548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Zero cannot be used because 1/0 is undefined.</a:t>
            </a:r>
            <a:br/>
            <a:br/>
            <a:r>
              <a:t>Python:</a:t>
            </a:r>
            <a:br/>
            <a:r>
              <a:t>1 / x</a:t>
            </a:r>
            <a:br/>
            <a:br/>
            <a:r>
              <a:t>Handle zero values before applying the transformation.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Distribution &amp; Transformation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4. Box-Cox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A flexible transformation for positive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7440" y="1371600"/>
            <a:ext cx="7498079" cy="713232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444752"/>
            <a:ext cx="72237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x′ = (x^λ − 1) / λ   when λ ≠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240280"/>
            <a:ext cx="5669280" cy="658368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313432"/>
            <a:ext cx="539496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x′ = log(x)   when λ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Box-Cox finds a suitable λ (lambda) from the data.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It can be more flexible than choosing log or square root manually.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Standard Box-Cox requires strictly positive values.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• Python: scipy.stats.boxcox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257800"/>
            <a:ext cx="6675120" cy="658368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5330952"/>
            <a:ext cx="640080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from scipy.stats import boxcox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Distribution &amp;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Choosing a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60320" cy="34747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347472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69AA"/>
                </a:solidFill>
              </a:defRPr>
            </a:pPr>
            <a:r>
              <a:t>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39"/>
            <a:ext cx="21488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Strong right skew</a:t>
            </a:r>
            <a:br/>
            <a:br/>
            <a:r>
              <a:t>Compresses very large values</a:t>
            </a:r>
            <a:br/>
            <a:br/>
            <a:r>
              <a:t>Examples: income, sales, prices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560320" cy="34747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508760"/>
            <a:ext cx="73152" cy="347472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73351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875A"/>
                </a:solidFill>
              </a:defRPr>
            </a:pPr>
            <a:r>
              <a:t>Square Root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48839"/>
            <a:ext cx="21488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Moderate right skew</a:t>
            </a:r>
            <a:br/>
            <a:br/>
            <a:r>
              <a:t>Often useful for count data</a:t>
            </a:r>
            <a:br/>
            <a:br/>
            <a:r>
              <a:t>Milder than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2560320" cy="34747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508760"/>
            <a:ext cx="73152" cy="34747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73351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E4646"/>
                </a:solidFill>
              </a:defRPr>
            </a:pPr>
            <a:r>
              <a:t>Reciprocal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39"/>
            <a:ext cx="21488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Strong transformation</a:t>
            </a:r>
            <a:br/>
            <a:br/>
            <a:r>
              <a:t>Can substantially change distribution</a:t>
            </a:r>
            <a:br/>
            <a:br/>
            <a:r>
              <a:t>Requires x ≠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508760"/>
            <a:ext cx="2560320" cy="34747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508760"/>
            <a:ext cx="73152" cy="3474720"/>
          </a:xfrm>
          <a:prstGeom prst="rect">
            <a:avLst/>
          </a:prstGeom>
          <a:solidFill>
            <a:srgbClr val="69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673351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9509B"/>
                </a:solidFill>
              </a:defRPr>
            </a:pPr>
            <a:r>
              <a:t>Box-Cox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48839"/>
            <a:ext cx="21488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Flexible option</a:t>
            </a:r>
            <a:br/>
            <a:br/>
            <a:r>
              <a:t>Finds λ from data</a:t>
            </a:r>
            <a:br/>
            <a:br/>
            <a:r>
              <a:t>Requires positive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5440680"/>
            <a:ext cx="6309360" cy="658368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5513832"/>
            <a:ext cx="603504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These are rules of thumb, not rigid laws.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Distribution &amp; Transformation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Before vs After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498348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4572000"/>
            <a:ext cx="4160520" cy="18288"/>
          </a:xfrm>
          <a:prstGeom prst="rect">
            <a:avLst/>
          </a:prstGeom>
          <a:solidFill>
            <a:srgbClr val="23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5880" y="4251960"/>
            <a:ext cx="256032" cy="32004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09928" y="3886200"/>
            <a:ext cx="256032" cy="6858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93976" y="3383280"/>
            <a:ext cx="256032" cy="118872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78024" y="2743200"/>
            <a:ext cx="256032" cy="18288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62072" y="2011680"/>
            <a:ext cx="256032" cy="256032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2743200"/>
            <a:ext cx="256032" cy="18288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0168" y="3429000"/>
            <a:ext cx="256032" cy="11430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14215" y="3886200"/>
            <a:ext cx="256032" cy="6858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8264" y="4206240"/>
            <a:ext cx="256032" cy="36576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82312" y="4370832"/>
            <a:ext cx="256032" cy="20116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7373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E4646"/>
                </a:solidFill>
              </a:defRPr>
            </a:pPr>
            <a:r>
              <a:t>Before: Right-Skewed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508760"/>
            <a:ext cx="498348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0" y="4572000"/>
            <a:ext cx="4160520" cy="18288"/>
          </a:xfrm>
          <a:prstGeom prst="rect">
            <a:avLst/>
          </a:prstGeom>
          <a:solidFill>
            <a:srgbClr val="23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4251960"/>
            <a:ext cx="274320" cy="32004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3886200"/>
            <a:ext cx="274320" cy="68580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27263" y="3429000"/>
            <a:ext cx="274320" cy="114300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66175" y="2834640"/>
            <a:ext cx="274320" cy="173736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05088" y="2377440"/>
            <a:ext cx="274320" cy="219456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2834640"/>
            <a:ext cx="274320" cy="173736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2912" y="3429000"/>
            <a:ext cx="274320" cy="114300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21824" y="3886200"/>
            <a:ext cx="274320" cy="68580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460736" y="4251960"/>
            <a:ext cx="274320" cy="32004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7373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7875A"/>
                </a:solidFill>
              </a:defRPr>
            </a:pPr>
            <a:r>
              <a:t>After: More Symmetric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31720" y="5349240"/>
            <a:ext cx="7543800" cy="68580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79" y="5422392"/>
            <a:ext cx="7269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Always check skewness again after transformation.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Distribution &amp; Transformation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Practical Python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325880"/>
            <a:ext cx="502920" cy="502920"/>
          </a:xfrm>
          <a:prstGeom prst="ellipse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9903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075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D3C"/>
                </a:solidFill>
              </a:defRPr>
            </a:pPr>
            <a:r>
              <a:t>Inspect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07592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737D"/>
                </a:solidFill>
              </a:defRPr>
            </a:pPr>
            <a:r>
              <a:t>Histogram / boxplot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1343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219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D3C"/>
                </a:solidFill>
              </a:defRPr>
            </a:pPr>
            <a:r>
              <a:t>Measure skewness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21992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737D"/>
                </a:solidFill>
              </a:defRPr>
            </a:pPr>
            <a:r>
              <a:t>df['column'].skew()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54680"/>
            <a:ext cx="502920" cy="502920"/>
          </a:xfrm>
          <a:prstGeom prst="ellipse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2783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36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D3C"/>
                </a:solidFill>
              </a:defRPr>
            </a:pPr>
            <a:r>
              <a:t>Choose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36392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737D"/>
                </a:solidFill>
              </a:defRPr>
            </a:pPr>
            <a:r>
              <a:t>log / sqrt / reciprocal / Box-Cox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4223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507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D3C"/>
                </a:solidFill>
              </a:defRPr>
            </a:pPr>
            <a:r>
              <a:t>Create transformed column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50792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737D"/>
                </a:solidFill>
              </a:defRPr>
            </a:pPr>
            <a:r>
              <a:t>Keep original data unchanged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983480"/>
            <a:ext cx="502920" cy="502920"/>
          </a:xfrm>
          <a:prstGeom prst="ellipse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05663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9651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D3C"/>
                </a:solidFill>
              </a:defRPr>
            </a:pPr>
            <a:r>
              <a:t>Check again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65192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737D"/>
                </a:solidFill>
              </a:defRPr>
            </a:pPr>
            <a:r>
              <a:t>Compare skewness before vs after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5715000"/>
            <a:ext cx="9372600" cy="566928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788152"/>
            <a:ext cx="909828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df['column'].skew()  →  transform  →  df['new_column'].skew()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Distribution &amp; Transformation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69AA"/>
                </a:solidFill>
              </a:defRPr>
            </a:pPr>
            <a:r>
              <a:t>1.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Apply a mathematical function to change the data distribution.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114300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B7D23"/>
                </a:solidFill>
              </a:defRPr>
            </a:pPr>
            <a:r>
              <a:t>2.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Best-known choice for strongly right-skewed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73152" cy="114300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535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875A"/>
                </a:solidFill>
              </a:defRPr>
            </a:pPr>
            <a:r>
              <a:t>3. Square Root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Useful for moderate right skew and count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889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788920"/>
            <a:ext cx="73152" cy="11430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535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E4646"/>
                </a:solidFill>
              </a:defRPr>
            </a:pPr>
            <a:r>
              <a:t>4. Reciprocal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290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A stronger transformation; zero values must be handled.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605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160520"/>
            <a:ext cx="73152" cy="1143000"/>
          </a:xfrm>
          <a:prstGeom prst="rect">
            <a:avLst/>
          </a:prstGeom>
          <a:solidFill>
            <a:srgbClr val="69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251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9509B"/>
                </a:solidFill>
              </a:defRPr>
            </a:pPr>
            <a:r>
              <a:t>5. Box-Cox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Flexible transformation that estimates λ for positive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160520"/>
            <a:ext cx="52120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160520"/>
            <a:ext cx="73152" cy="11430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251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69AA"/>
                </a:solidFill>
              </a:defRPr>
            </a:pPr>
            <a:r>
              <a:t>6. 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006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Never transform blindly. Check skewness before and after.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5577840"/>
            <a:ext cx="8229600" cy="658368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03120" y="5650992"/>
            <a:ext cx="7955279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32D3C"/>
                </a:solidFill>
              </a:defRPr>
            </a:pPr>
            <a:r>
              <a:t>Skewed Data → Transform → Re-check → Use if appropriate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Distribution &amp; Transformation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5745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