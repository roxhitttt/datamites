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Distance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Euclidean • Manhattan • Minkowski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2057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205740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55063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What is Distance?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29256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Distance tells us how far apart two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data points or objects 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2057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205740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55063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Why Important?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30552"/>
            <a:ext cx="2573718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Used in KNN, clustering,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recommendation systems and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similarity calculations.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337560" cy="205740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73152" cy="20574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655063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Three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30552"/>
            <a:ext cx="2971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Euclidean → straight line</a:t>
            </a:r>
            <a:br/>
            <a:r>
              <a:t>Manhattan → grid movement</a:t>
            </a:r>
            <a:br/>
            <a:r>
              <a:t>Minkowski → generalized formula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4251960"/>
            <a:ext cx="754380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79" y="4325112"/>
            <a:ext cx="7269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Distance = How far apart are two points?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Start With Two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4937760" cy="20116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73152" cy="201168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55063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Point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30552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A = (x₁, y₁)</a:t>
            </a:r>
            <a:br/>
            <a:br/>
            <a:r>
              <a:t>Example: A = (2, 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08760"/>
            <a:ext cx="4937760" cy="20116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73152" cy="201168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55063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Point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30552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B = (x₂, y₂)</a:t>
            </a:r>
            <a:br/>
            <a:br/>
            <a:r>
              <a:t>Example: B = (5, 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4251960"/>
            <a:ext cx="649224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4325112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Question: How far is A from B?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1. Euclidean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Straight-line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9260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292608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Simple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4504310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Imagine drawing a straight line between two points.</a:t>
            </a:r>
            <a:br>
              <a:rPr dirty="0"/>
            </a:br>
            <a:br>
              <a:rPr dirty="0"/>
            </a:br>
            <a:r>
              <a:rPr dirty="0"/>
              <a:t>Euclidean distance is the shortest straight-line distance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between them.</a:t>
            </a:r>
            <a:br>
              <a:rPr dirty="0"/>
            </a:br>
            <a:br>
              <a:rPr dirty="0"/>
            </a:br>
            <a:r>
              <a:rPr dirty="0"/>
              <a:t>It comes from the Pythagorean theorem.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12080" cy="29260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292608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Think of a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503060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If two locations are points on a map, Euclidean distance is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like measuring the direct straight-line distance between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983480"/>
            <a:ext cx="7589520" cy="749808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23160" y="5056632"/>
            <a:ext cx="7315200" cy="6126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Difference → Square → Add → Square Root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Euclidean Distance: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6072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37560" y="1444752"/>
            <a:ext cx="5486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A = (2,1)     B = (5,4)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240280"/>
            <a:ext cx="777240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2313432"/>
            <a:ext cx="74980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 = √[(x₂−x₁)² + (y₂−y₁)²]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32461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73152" cy="155448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3924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67911"/>
            <a:ext cx="2880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x difference = 5 − 2 = 3</a:t>
            </a:r>
            <a:br/>
            <a:r>
              <a:t>y difference = 4 − 1 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46120"/>
            <a:ext cx="32461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3246120"/>
            <a:ext cx="73152" cy="155448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33924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867911"/>
            <a:ext cx="2880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d = √(3² + 3²)</a:t>
            </a:r>
            <a:br/>
            <a:r>
              <a:t>= √18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46120"/>
            <a:ext cx="32461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3246120"/>
            <a:ext cx="73152" cy="155448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33924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67911"/>
            <a:ext cx="2880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d = √18</a:t>
            </a:r>
            <a:br/>
            <a:r>
              <a:t>≈ 4.24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2. Manhattan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Grid / block-by-block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06324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Simple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489800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Imagine walking through a city with roads arranged in a grid.</a:t>
            </a:r>
            <a:br>
              <a:rPr dirty="0"/>
            </a:br>
            <a:br>
              <a:rPr dirty="0"/>
            </a:br>
            <a:r>
              <a:rPr dirty="0"/>
              <a:t>You travel horizontally and vertically instead of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cutting diagonally through buildings.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1208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306324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Why 'Manhattan'?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521630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The name refers to the grid-like street layout associated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with Manhattan.</a:t>
            </a:r>
            <a:br>
              <a:rPr dirty="0"/>
            </a:br>
            <a:br>
              <a:rPr dirty="0"/>
            </a:br>
            <a:r>
              <a:rPr dirty="0"/>
              <a:t>Distance = total horizontal movement + total vertical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5074920"/>
            <a:ext cx="7726679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5148072"/>
            <a:ext cx="745235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Manhattan = Add the absolute differences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Manhattan Distance: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6072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37560" y="1444752"/>
            <a:ext cx="54864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A = (2,1)     B = (5,4)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40280"/>
            <a:ext cx="667512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2313432"/>
            <a:ext cx="6400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 = |x₂−x₁| + |y₂−y₁|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32461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73152" cy="155448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3924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67911"/>
            <a:ext cx="2880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|5 − 2| = 3</a:t>
            </a:r>
            <a:br/>
            <a:r>
              <a:t>|4 − 1| 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46120"/>
            <a:ext cx="32461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3246120"/>
            <a:ext cx="73152" cy="155448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33924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867911"/>
            <a:ext cx="2880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d = 3 + 3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46120"/>
            <a:ext cx="3246120" cy="15544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3246120"/>
            <a:ext cx="73152" cy="155448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3392424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867911"/>
            <a:ext cx="288036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d =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166360"/>
            <a:ext cx="658368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79" y="5239512"/>
            <a:ext cx="630936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Absolute value makes the distance positive.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Euclidean vs Manhattan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2918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2918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Euclidean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8463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Straight-line distance</a:t>
            </a:r>
            <a:br/>
            <a:br/>
            <a:r>
              <a:t>Formula:</a:t>
            </a:r>
            <a:br/>
            <a:r>
              <a:t>√[(x₂−x₁)² + (y₂−y₁)²]</a:t>
            </a:r>
            <a:br/>
            <a:br/>
            <a:r>
              <a:t>For A=(2,1), B=(5,4): 4.24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2918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29184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Manhattan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Grid / block-by-block distance</a:t>
            </a:r>
            <a:br/>
            <a:br/>
            <a:r>
              <a:t>Formula:</a:t>
            </a:r>
            <a:br/>
            <a:r>
              <a:t>|x₂−x₁| + |y₂−y₁|</a:t>
            </a:r>
            <a:br/>
            <a:br/>
            <a:r>
              <a:t>For A=(2,1), B=(5,4):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5166360"/>
            <a:ext cx="9144000" cy="713232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19" y="5239512"/>
            <a:ext cx="886968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Same points → different distance depending on how distance is measured.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3. Minkowski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37D"/>
                </a:solidFill>
              </a:defRPr>
            </a:pPr>
            <a:r>
              <a:t>A generalized distance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417320"/>
            <a:ext cx="6126480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79" y="1490472"/>
            <a:ext cx="5852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 = [ Σ |pₖ − qₖ|ʳ ]¹⁄ʳ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21208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73152" cy="237744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60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509B"/>
                </a:solidFill>
              </a:defRPr>
            </a:pPr>
            <a:r>
              <a:t>What is 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36392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r controls the type of distance.</a:t>
            </a:r>
            <a:br/>
            <a:br/>
            <a:r>
              <a:t>pₖ = coordinate of point P</a:t>
            </a:r>
            <a:br/>
            <a:r>
              <a:t>qₖ = coordinate of point Q</a:t>
            </a:r>
            <a:br/>
            <a:r>
              <a:t>n = number of 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514600"/>
            <a:ext cx="521208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514600"/>
            <a:ext cx="73152" cy="23774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660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Why Useful?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36392"/>
            <a:ext cx="491730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Minkowski is a generalized formula that includes Manhattan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and Euclidean distance as special cases.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Minkowski When r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01752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9160" y="1444752"/>
            <a:ext cx="27432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r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240280"/>
            <a:ext cx="548640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2313432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 = Σ |pₖ − qₖ|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47548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73152" cy="16459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575304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50791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The formula becomes the sum of absolute differences.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429000"/>
            <a:ext cx="47548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3429000"/>
            <a:ext cx="73152" cy="164592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3575304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Therefore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50791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r = 1 → Manhattan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440680"/>
            <a:ext cx="484632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60" y="5513832"/>
            <a:ext cx="4572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r = 1  ⇒  Manhattan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Minkowski When r =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01752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9160" y="1444752"/>
            <a:ext cx="27432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r =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240280"/>
            <a:ext cx="640080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313432"/>
            <a:ext cx="6126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 = [ Σ |pₖ − qₖ|² ]¹⁄²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47548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73152" cy="16459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575304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50791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The formula becomes the square-root-of-sum-of-squares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429000"/>
            <a:ext cx="475488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3429000"/>
            <a:ext cx="73152" cy="164592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3575304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Therefore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50791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r = 2 → Euclidean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5440680"/>
            <a:ext cx="484632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60" y="5513832"/>
            <a:ext cx="457200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r = 2  ⇒  Euclidean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83280" y="1325880"/>
            <a:ext cx="539496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20440" y="1399032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MINKOWSKI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301752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514600"/>
            <a:ext cx="73152" cy="219456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660904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r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36392"/>
            <a:ext cx="26517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↓</a:t>
            </a:r>
            <a:br/>
            <a:r>
              <a:t>MANHATTAN</a:t>
            </a:r>
            <a:br/>
            <a:br/>
            <a:r>
              <a:t>Grid / block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01752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2514600"/>
            <a:ext cx="73152" cy="219456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660904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r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36392"/>
            <a:ext cx="26517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↓</a:t>
            </a:r>
            <a:br/>
            <a:r>
              <a:t>EUCLIDEAN</a:t>
            </a:r>
            <a:br/>
            <a:br/>
            <a:r>
              <a:t>Straight-line distance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14600"/>
            <a:ext cx="3017520" cy="219456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514600"/>
            <a:ext cx="73152" cy="219456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660904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509B"/>
                </a:solidFill>
              </a:defRPr>
            </a:pPr>
            <a:r>
              <a:t>Other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136392"/>
            <a:ext cx="26517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↓</a:t>
            </a:r>
            <a:br/>
            <a:r>
              <a:t>Other Minkowski distances</a:t>
            </a:r>
            <a:br/>
            <a:br/>
            <a:r>
              <a:t>Generalized family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5212080"/>
            <a:ext cx="8046720" cy="68580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4560" y="52852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Minkowski → r=1: Manhattan → r=2: Euclidean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Why Distance Matters in Data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233172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328198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Finds the nearest data points to a new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observation using a distance measure.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233172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63624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39112"/>
            <a:ext cx="307532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Groups observations based on how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close or far they are from each 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8328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233172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63624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509B"/>
                </a:solidFill>
              </a:defRPr>
            </a:pPr>
            <a: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316817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Can use distance/similarity to identify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similar users or items.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4434840"/>
            <a:ext cx="7955279" cy="77724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4507992"/>
            <a:ext cx="7680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Distance helps algorithms decide: “Which points are closest?”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Important: Feature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06324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E4646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821448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Suppose features are:</a:t>
            </a:r>
            <a:br>
              <a:rPr dirty="0"/>
            </a:br>
            <a:br>
              <a:rPr dirty="0"/>
            </a:br>
            <a:r>
              <a:rPr dirty="0"/>
              <a:t>Age = 25</a:t>
            </a:r>
            <a:br>
              <a:rPr dirty="0"/>
            </a:br>
            <a:r>
              <a:rPr dirty="0"/>
              <a:t>Salary = 50,000</a:t>
            </a:r>
            <a:br>
              <a:rPr dirty="0"/>
            </a:br>
            <a:br>
              <a:rPr dirty="0"/>
            </a:br>
            <a:r>
              <a:rPr dirty="0"/>
              <a:t>Salary has a much larger numerical scale and can dominate </a:t>
            </a:r>
            <a:endParaRPr lang="en-IN" dirty="0"/>
          </a:p>
          <a:p>
            <a:pPr>
              <a:defRPr sz="1500">
                <a:solidFill>
                  <a:srgbClr val="232D3C"/>
                </a:solidFill>
              </a:defRPr>
            </a:pPr>
            <a:r>
              <a:rPr dirty="0"/>
              <a:t>distance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06324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636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84632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Scale the features before distance-based algorithms when appropriate.</a:t>
            </a:r>
            <a:br/>
            <a:br/>
            <a:r>
              <a:t>Common methods:</a:t>
            </a:r>
            <a:br/>
            <a:r>
              <a:t>• Standardization</a:t>
            </a:r>
            <a:br/>
            <a:r>
              <a:t>• Min-Max Scaling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5074920"/>
            <a:ext cx="9601200" cy="73152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39" y="5148072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Distance → Scaling → KNN / K-Means / other distance-based methods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3769AA"/>
                </a:solidFill>
              </a:defRPr>
            </a:pPr>
            <a:r>
              <a:t>Notebook Notes &amp; Final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2004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Euclidean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Straight-line distance</a:t>
            </a:r>
            <a:br/>
            <a:r>
              <a:t>√Σ(xᵢ−yᵢ)²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1234440"/>
          </a:xfrm>
          <a:prstGeom prst="rect">
            <a:avLst/>
          </a:prstGeom>
          <a:solidFill>
            <a:srgbClr val="EB7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4721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B7D23"/>
                </a:solidFill>
              </a:defRPr>
            </a:pPr>
            <a:r>
              <a:t>Manhattan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Grid distance</a:t>
            </a:r>
            <a:br/>
            <a:r>
              <a:t>Σ|xᵢ−yᵢ|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73152" cy="1234440"/>
          </a:xfrm>
          <a:prstGeom prst="rect">
            <a:avLst/>
          </a:prstGeom>
          <a:solidFill>
            <a:srgbClr val="6950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9352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69509B"/>
                </a:solidFill>
              </a:defRPr>
            </a:pPr>
            <a:r>
              <a:t>Minkowski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Generalized distance</a:t>
            </a:r>
            <a:br/>
            <a:r>
              <a:t>[Σ|pₖ−qₖ|ʳ]¹⁄ʳ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88920"/>
            <a:ext cx="52120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788920"/>
            <a:ext cx="73152" cy="123444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93522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875A"/>
                </a:solidFill>
              </a:defRPr>
            </a:pPr>
            <a:r>
              <a:t>Key Values of 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10712"/>
            <a:ext cx="4846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r=1 → Manhattan</a:t>
            </a:r>
            <a:br/>
            <a:r>
              <a:t>r=2 → Euclidean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51960"/>
            <a:ext cx="10789920" cy="1097280"/>
          </a:xfrm>
          <a:prstGeom prst="roundRect">
            <a:avLst/>
          </a:prstGeom>
          <a:solidFill>
            <a:srgbClr val="F5F8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251960"/>
            <a:ext cx="73152" cy="1097280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98264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769AA"/>
                </a:solidFill>
              </a:defRPr>
            </a:pPr>
            <a:r>
              <a:t>Memory Trick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1042416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D3C"/>
                </a:solidFill>
              </a:defRPr>
            </a:pPr>
            <a:r>
              <a:t>Euclidean = straight line • Manhattan = city blocks • Minkowski = general formula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623560"/>
            <a:ext cx="8595360" cy="640080"/>
          </a:xfrm>
          <a:prstGeom prst="roundRect">
            <a:avLst/>
          </a:prstGeom>
          <a:solidFill>
            <a:srgbClr val="EEF4FC"/>
          </a:solidFill>
          <a:ln>
            <a:solidFill>
              <a:srgbClr val="BE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65960" y="5696712"/>
            <a:ext cx="832104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D3C"/>
                </a:solidFill>
              </a:defRPr>
            </a:pPr>
            <a:r>
              <a:t>Distance → Feature Scaling → KNN / K-Means / Similarity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592824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Data Science Notes • Distance Measures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8368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1008</Words>
  <Application>Microsoft Office PowerPoint</Application>
  <PresentationFormat>Widescreen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gosavi</cp:lastModifiedBy>
  <cp:revision>15</cp:revision>
  <dcterms:created xsi:type="dcterms:W3CDTF">2013-01-27T09:14:16Z</dcterms:created>
  <dcterms:modified xsi:type="dcterms:W3CDTF">2026-08-11T11:41:45Z</dcterms:modified>
  <cp:category/>
</cp:coreProperties>
</file>